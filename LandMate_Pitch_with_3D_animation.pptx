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16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73"/>
  </p:normalViewPr>
  <p:slideViewPr>
    <p:cSldViewPr snapToGrid="0" snapToObjects="1">
      <p:cViewPr varScale="1">
        <p:scale>
          <a:sx n="125" d="100"/>
          <a:sy n="125" d="100"/>
        </p:scale>
        <p:origin x="1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>
                <a:solidFill>
                  <a:srgbClr val="64748B"/>
                </a:solidFill>
              </a:rPr>
              <a:t>→  Detects the drone in a sky-facing camera frame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>
                <a:solidFill>
                  <a:srgbClr val="64748B"/>
                </a:solidFill>
              </a:rPr>
              <a:t>→  Estimates altitude and velocity from a single camera (no depth sensor needed)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>
                <a:solidFill>
                  <a:srgbClr val="64748B"/>
                </a:solidFill>
              </a:rPr>
              <a:t>→  Predicts where the drone will land and in how many seconds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>
                <a:solidFill>
                  <a:srgbClr val="64748B"/>
                </a:solidFill>
              </a:rPr>
              <a:t>→  Drives to the intercept point — stops when the 60×40 cm pad is centred under the drone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>
                <a:solidFill>
                  <a:srgbClr val="64748B"/>
                </a:solidFill>
              </a:rPr>
              <a:t>→  Aborts if the ANT can't reach the spot in time (reachability gate)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>
              <a:solidFill>
                <a:srgbClr val="64748B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>
              <a:solidFill>
                <a:srgbClr val="64748B"/>
              </a:solidFill>
            </a:endParaRP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36CE-580A-4249-BDF2-F5F16DF8D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650EA-AA7F-4F53-A667-31ACEFFE0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D632-5DAE-4CD1-986D-E03A3E2657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7F742-C138-4699-8B0E-0F161F73FE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6C8D5-3537-49C0-AC80-8FB4B07FA8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95AC-6351-4D87-88D3-66429013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1CE2E-42BD-4842-8809-AFBF7BBC5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8282D-41EC-40C8-892E-7C4BCA1B2F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2FCAE-2466-418B-968A-A75597D0BE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BFBCB-9B5B-4B21-96EA-9BA8150BC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5FF9-7511-4E01-8726-40CB44FA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76C2F-DCD4-46A8-9B2E-57CA0C231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33C65-E7FB-49CF-ACE9-CC8E4B394D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2AF68-9555-45D3-9CBA-CD01B96C61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FF5ED-7B07-467C-879E-BA9B0656BE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FE0C9-5BBD-4618-87CD-44E4F9E3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43A9E-6283-4EDF-96A6-4C964C74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3BAA7-9D28-4EEB-AFB6-53F52289A0F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A40E3-39DA-4D59-A88D-3EAB50E905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F5A47-8D3C-4362-BC67-C0AA6E6D97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1A15E-4530-4578-86C7-F926D1D4B6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49F3-1790-4AA4-90EA-8CAD484F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79388-CDA8-404D-9794-C186E3462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E13C7-68E7-479C-807A-7161C43C0E4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D7ACEA-EAE5-4750-9261-FEEDAC0159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410A6-0234-4076-B730-2FE927EC856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45A1B-76F6-40F1-9C52-CCA27AA799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9CCA7D-327E-4945-918A-B83E1889D4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0C99A8-6264-4000-B6B5-71EA60DD56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B194-929C-416E-99DC-88183EB0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721D2-CBAE-4170-A784-9EFDEA2BA8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19C1C-775C-4B1C-AA90-7A5BE07057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9CC84-67CE-4F71-A239-84C9ED7908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2191A-F94F-4607-BB1E-B3B2E95B5F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34FF8-7E65-4A1E-AFB2-C609B6EEB9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4B890-D763-4EA1-94AA-FE59047EA2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AFCF-5F4B-4504-8882-82EA1527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E17EF-5AC6-4872-A809-FFBFCD1A0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89C7C-851A-4DF4-9F06-D2EAD2ADE6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6AFA1-8BBC-4C3D-A062-5D4010A097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E608B-2315-4B8B-AD5C-7CACA270C7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3530B-2261-430A-BB62-61EB68C84C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A167-2FEF-4DFB-84EA-17EE8970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824A3-6536-403A-8948-0DA40B9F8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0967A-C700-4914-9CAA-DA90F07483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DB055-148C-4771-B6D4-11ABD15BA8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F3E73-D2F9-43B7-9989-5845170493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3A9B7-2370-41A6-B4D0-4AC0313112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E629-F5AD-4839-A59A-27C07AF2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DD855-46B2-437F-B569-A22DF47F5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D1C74-2824-475C-A00E-560DE0F81E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1BE14-19FB-43C2-9BA7-99F3E56A02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4BD4A-AFDC-4F9C-AB0A-DF000CB061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0657B-B8EB-40C1-9987-B68DA008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B5140-ECD5-4EB4-9714-BB07B4F39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82D1F-26EF-49A1-BB3D-A0337D7799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FB359-DBFC-4609-B91C-447070A011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D0F8-7F74-496D-86EC-BE74236D68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7072E-63AA-4063-AC79-C88201A1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34A44-CF97-4B6B-9E67-C8060A957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25304-4888-4CCE-AB11-9DF77D2B23C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11.10.26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803A0-8FA3-4110-B287-14A5A366887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9A72E-B177-43E7-90B7-F025CA2160F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428E8E-C98F-429F-8391-CBE04FEC84B9}"/>
              </a:ext>
            </a:extLst>
          </p:cNvPr>
          <p:cNvSpPr>
            <a:spLocks noGrp="1"/>
          </p:cNvSpPr>
          <p:nvPr/>
        </p:nvSpPr>
        <p:spPr>
          <a:xfrm>
            <a:off x="305" y="1219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5FC74B-94BC-494C-9FAC-E42C1D5EF77A}"/>
              </a:ext>
            </a:extLst>
          </p:cNvPr>
          <p:cNvSpPr>
            <a:spLocks noGrp="1"/>
          </p:cNvSpPr>
          <p:nvPr/>
        </p:nvSpPr>
        <p:spPr>
          <a:xfrm>
            <a:off x="4343400" y="1071372"/>
            <a:ext cx="34747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BF316-4A57-42B1-A2C3-38F3AF9FB5C6}"/>
              </a:ext>
            </a:extLst>
          </p:cNvPr>
          <p:cNvSpPr>
            <a:spLocks noGrp="1"/>
          </p:cNvSpPr>
          <p:nvPr/>
        </p:nvSpPr>
        <p:spPr>
          <a:xfrm>
            <a:off x="4343400" y="1083677"/>
            <a:ext cx="347472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087F8C"/>
                </a:solidFill>
              </a:defRPr>
            </a:defPPr>
          </a:lstStyle>
          <a:p>
            <a:pPr algn="ctr">
              <a:buNone/>
            </a:pPr>
            <a:r>
              <a:rPr lang="en-GB" sz="1000" b="1" i="0" dirty="0">
                <a:solidFill>
                  <a:srgbClr val="087F8C"/>
                </a:solidFill>
              </a:rPr>
              <a:t>Mobile Robotics Hackathon 2026 · TU Dresden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80AA2-445B-4E2B-B33D-442D2F40C748}"/>
              </a:ext>
            </a:extLst>
          </p:cNvPr>
          <p:cNvSpPr>
            <a:spLocks noGrp="1"/>
          </p:cNvSpPr>
          <p:nvPr/>
        </p:nvSpPr>
        <p:spPr>
          <a:xfrm>
            <a:off x="914400" y="1508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182536"/>
                </a:solidFill>
              </a:defRPr>
            </a:defPPr>
          </a:lstStyle>
          <a:p>
            <a:pPr algn="ctr">
              <a:buNone/>
            </a:pPr>
            <a:r>
              <a:rPr lang="en-GB" sz="4800" b="1" dirty="0" err="1">
                <a:solidFill>
                  <a:srgbClr val="182536"/>
                </a:solidFill>
              </a:rPr>
              <a:t>LandMate</a:t>
            </a:r>
            <a:r>
              <a:rPr lang="en-GB" sz="4800" dirty="0">
                <a:solidFill>
                  <a:srgbClr val="182536"/>
                </a:solidFill>
              </a:rPr>
              <a:t> </a:t>
            </a:r>
            <a:endParaRPr lang="en-GB" sz="4800" b="1" i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DEC56-3FEB-4AB6-B4FA-5A50914B9E5A}"/>
              </a:ext>
            </a:extLst>
          </p:cNvPr>
          <p:cNvSpPr>
            <a:spLocks noGrp="1"/>
          </p:cNvSpPr>
          <p:nvPr/>
        </p:nvSpPr>
        <p:spPr>
          <a:xfrm>
            <a:off x="914400" y="23317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087F8C"/>
                </a:solidFill>
              </a:defRPr>
            </a:defPPr>
          </a:lstStyle>
          <a:p>
            <a:pPr algn="ctr">
              <a:buNone/>
            </a:pPr>
            <a:r>
              <a:rPr lang="en-GB" sz="4800" b="1" i="0" dirty="0">
                <a:solidFill>
                  <a:srgbClr val="087F8C"/>
                </a:solidFill>
              </a:rPr>
              <a:t>A mobile landing pad for drones</a:t>
            </a:r>
            <a:endParaRPr lang="en-GB" sz="4800" b="1" i="0" dirty="0">
              <a:solidFill>
                <a:srgbClr val="00E5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29D6E4-CA55-405A-8495-FEB8356A7747}"/>
              </a:ext>
            </a:extLst>
          </p:cNvPr>
          <p:cNvSpPr>
            <a:spLocks noGrp="1"/>
          </p:cNvSpPr>
          <p:nvPr/>
        </p:nvSpPr>
        <p:spPr>
          <a:xfrm>
            <a:off x="5760720" y="3337560"/>
            <a:ext cx="640080" cy="381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0373BE-C7D1-4243-AEA2-006CD7E98DF4}"/>
              </a:ext>
            </a:extLst>
          </p:cNvPr>
          <p:cNvSpPr>
            <a:spLocks noGrp="1"/>
          </p:cNvSpPr>
          <p:nvPr/>
        </p:nvSpPr>
        <p:spPr>
          <a:xfrm>
            <a:off x="1371600" y="35204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ctr">
              <a:buNone/>
            </a:pPr>
            <a:r>
              <a:rPr lang="en-GB" sz="1800" b="0" i="1" dirty="0">
                <a:solidFill>
                  <a:srgbClr val="526173"/>
                </a:solidFill>
              </a:rPr>
              <a:t>"We built a ground robot that watches the sky, predicts where a drone will land,</a:t>
            </a:r>
            <a:br>
              <a:rPr lang="en-GB" sz="1800" b="0" i="1" dirty="0">
                <a:solidFill>
                  <a:srgbClr val="526173"/>
                </a:solidFill>
              </a:rPr>
            </a:br>
            <a:r>
              <a:rPr lang="en-GB" sz="1800" b="0" i="1" dirty="0">
                <a:solidFill>
                  <a:srgbClr val="526173"/>
                </a:solidFill>
              </a:rPr>
              <a:t>and drives there before it hits the floor."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44243F-06EA-42DE-AC7B-915095EEB242}"/>
              </a:ext>
            </a:extLst>
          </p:cNvPr>
          <p:cNvSpPr>
            <a:spLocks noGrp="1"/>
          </p:cNvSpPr>
          <p:nvPr/>
        </p:nvSpPr>
        <p:spPr>
          <a:xfrm>
            <a:off x="924560" y="4846320"/>
            <a:ext cx="103327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ctr">
              <a:buNone/>
            </a:pPr>
            <a:r>
              <a:rPr lang="en-GB" sz="1300" b="0" i="0" dirty="0">
                <a:solidFill>
                  <a:srgbClr val="526173"/>
                </a:solidFill>
              </a:rPr>
              <a:t>Clutch Robotics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B93DC-9516-4E5E-A00D-EAEE69E1F4C4}"/>
              </a:ext>
            </a:extLst>
          </p:cNvPr>
          <p:cNvSpPr>
            <a:spLocks noGrp="1"/>
          </p:cNvSpPr>
          <p:nvPr/>
        </p:nvSpPr>
        <p:spPr>
          <a:xfrm>
            <a:off x="11430000" y="6492240"/>
            <a:ext cx="64008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r">
              <a:buNone/>
            </a:pPr>
            <a:r>
              <a:rPr lang="en-GB" sz="1000" b="0" i="0" dirty="0">
                <a:solidFill>
                  <a:srgbClr val="526173"/>
                </a:solidFill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85000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49EDFE-0424-4E53-BD1B-839E8A20C3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AA93A-196A-4DBB-8B18-EE2082E5CD78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5486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182536"/>
                </a:solidFill>
              </a:defRPr>
            </a:defPPr>
          </a:lstStyle>
          <a:p>
            <a:pPr algn="l">
              <a:buNone/>
            </a:pPr>
            <a:r>
              <a:rPr lang="en-GB" sz="3800" b="1" i="0" dirty="0">
                <a:solidFill>
                  <a:srgbClr val="182536"/>
                </a:solidFill>
              </a:rPr>
              <a:t>Drones fall.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36925-CC26-4956-821D-057BFD153527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486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6551A5"/>
                </a:solidFill>
              </a:defRPr>
            </a:defPPr>
          </a:lstStyle>
          <a:p>
            <a:pPr algn="l">
              <a:buNone/>
            </a:pPr>
            <a:r>
              <a:rPr lang="en-GB" sz="3800" b="1" i="0" dirty="0">
                <a:solidFill>
                  <a:srgbClr val="6551A5"/>
                </a:solidFill>
              </a:rPr>
              <a:t>Nobody is ready.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8B8A19-1F4B-4BDA-8DAE-7256C606FDF6}"/>
              </a:ext>
            </a:extLst>
          </p:cNvPr>
          <p:cNvSpPr>
            <a:spLocks noGrp="1"/>
          </p:cNvSpPr>
          <p:nvPr/>
        </p:nvSpPr>
        <p:spPr>
          <a:xfrm>
            <a:off x="457200" y="2011680"/>
            <a:ext cx="640080" cy="38100"/>
          </a:xfrm>
          <a:prstGeom prst="rect">
            <a:avLst/>
          </a:prstGeom>
          <a:solidFill>
            <a:srgbClr val="65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CC979-4965-4851-BBA6-0D900E814F5F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4861865" cy="2988564"/>
          </a:xfrm>
          <a:prstGeom prst="rect">
            <a:avLst/>
          </a:prstGeom>
          <a:solidFill>
            <a:srgbClr val="F7F9FB"/>
          </a:solidFill>
          <a:ln w="7620">
            <a:solidFill>
              <a:srgbClr val="DCE3E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9EBD82-3744-40AD-A590-8AD44E5BABCF}"/>
              </a:ext>
            </a:extLst>
          </p:cNvPr>
          <p:cNvSpPr>
            <a:spLocks noGrp="1"/>
          </p:cNvSpPr>
          <p:nvPr/>
        </p:nvSpPr>
        <p:spPr>
          <a:xfrm>
            <a:off x="59436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087F8C"/>
                </a:solidFill>
              </a:defRPr>
            </a:defPPr>
          </a:lstStyle>
          <a:p>
            <a:pPr algn="l">
              <a:buNone/>
            </a:pPr>
            <a:r>
              <a:rPr lang="en-GB" sz="1200" b="1" i="0" dirty="0">
                <a:solidFill>
                  <a:srgbClr val="087F8C"/>
                </a:solidFill>
              </a:rPr>
              <a:t>Saturday 11:00 — WHERE WE STARTED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96B5D-CF28-4032-BDD0-1A18E46728FD}"/>
              </a:ext>
            </a:extLst>
          </p:cNvPr>
          <p:cNvSpPr>
            <a:spLocks noGrp="1"/>
          </p:cNvSpPr>
          <p:nvPr/>
        </p:nvSpPr>
        <p:spPr>
          <a:xfrm>
            <a:off x="594360" y="2788920"/>
            <a:ext cx="4937760" cy="2225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182536"/>
                </a:solidFill>
              </a:defRPr>
            </a:defPPr>
          </a:lstStyle>
          <a:p>
            <a:pPr algn="l">
              <a:buNone/>
            </a:pPr>
            <a:r>
              <a:rPr lang="en-GB" sz="2000" b="0" i="0" dirty="0">
                <a:solidFill>
                  <a:srgbClr val="182536"/>
                </a:solidFill>
              </a:rPr>
              <a:t>An ANT1 ground robot that drives on command.</a:t>
            </a:r>
            <a:br>
              <a:rPr lang="en-GB" sz="2000" b="0" i="0" dirty="0">
                <a:solidFill>
                  <a:srgbClr val="182536"/>
                </a:solidFill>
              </a:rPr>
            </a:br>
            <a:r>
              <a:rPr lang="en-GB" sz="2000" b="0" i="0" dirty="0">
                <a:solidFill>
                  <a:srgbClr val="182536"/>
                </a:solidFill>
              </a:rPr>
              <a:t>A </a:t>
            </a:r>
            <a:r>
              <a:rPr lang="en-GB" sz="2000" b="0" i="0" dirty="0" err="1">
                <a:solidFill>
                  <a:srgbClr val="182536"/>
                </a:solidFill>
              </a:rPr>
              <a:t>Crazyfile</a:t>
            </a:r>
            <a:r>
              <a:rPr lang="en-GB" sz="2000" b="0" i="0" dirty="0">
                <a:solidFill>
                  <a:srgbClr val="182536"/>
                </a:solidFill>
              </a:rPr>
              <a:t> drone that hovers.</a:t>
            </a:r>
            <a:br>
              <a:rPr lang="en-GB" sz="2000" b="0" i="0" dirty="0">
                <a:solidFill>
                  <a:srgbClr val="182536"/>
                </a:solidFill>
              </a:rPr>
            </a:br>
            <a:r>
              <a:rPr lang="en-GB" sz="2000" b="0" i="0" dirty="0">
                <a:solidFill>
                  <a:srgbClr val="182536"/>
                </a:solidFill>
              </a:rPr>
              <a:t>Zero connection between them.</a:t>
            </a:r>
            <a:br>
              <a:rPr lang="en-GB" sz="2000" b="0" i="0" dirty="0">
                <a:solidFill>
                  <a:srgbClr val="182536"/>
                </a:solidFill>
              </a:rPr>
            </a:br>
            <a:br>
              <a:rPr lang="en-GB" sz="2000" b="0" i="0" dirty="0">
                <a:solidFill>
                  <a:srgbClr val="182536"/>
                </a:solidFill>
              </a:rPr>
            </a:br>
            <a:r>
              <a:rPr lang="en-GB" sz="2000" b="0" i="0" dirty="0">
                <a:solidFill>
                  <a:srgbClr val="182536"/>
                </a:solidFill>
              </a:rPr>
              <a:t>When the drone descends → nobody knows where it will land.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C0704-0F61-4D10-95FF-61C4DCB1901B}"/>
              </a:ext>
            </a:extLst>
          </p:cNvPr>
          <p:cNvSpPr>
            <a:spLocks noGrp="1"/>
          </p:cNvSpPr>
          <p:nvPr/>
        </p:nvSpPr>
        <p:spPr>
          <a:xfrm>
            <a:off x="4507992" y="3006852"/>
            <a:ext cx="2703881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087F8C"/>
                </a:solidFill>
              </a:defRPr>
            </a:defPPr>
          </a:lstStyle>
          <a:p>
            <a:pPr algn="ctr">
              <a:buNone/>
            </a:pPr>
            <a:r>
              <a:rPr lang="en-GB" sz="7000" b="1" i="0" dirty="0">
                <a:solidFill>
                  <a:srgbClr val="087F8C"/>
                </a:solidFill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16BC43-72A3-4332-8734-3FC8859E46FF}"/>
              </a:ext>
            </a:extLst>
          </p:cNvPr>
          <p:cNvSpPr>
            <a:spLocks noGrp="1"/>
          </p:cNvSpPr>
          <p:nvPr/>
        </p:nvSpPr>
        <p:spPr>
          <a:xfrm>
            <a:off x="6400800" y="2286000"/>
            <a:ext cx="5303520" cy="2988564"/>
          </a:xfrm>
          <a:prstGeom prst="rect">
            <a:avLst/>
          </a:prstGeom>
          <a:solidFill>
            <a:srgbClr val="F7F9FB"/>
          </a:solidFill>
          <a:ln w="7620">
            <a:solidFill>
              <a:srgbClr val="DCE3E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DF8A9-BEB8-4C25-A928-538DB50556FF}"/>
              </a:ext>
            </a:extLst>
          </p:cNvPr>
          <p:cNvSpPr>
            <a:spLocks noGrp="1"/>
          </p:cNvSpPr>
          <p:nvPr/>
        </p:nvSpPr>
        <p:spPr>
          <a:xfrm>
            <a:off x="662940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087F8C"/>
                </a:solidFill>
              </a:defRPr>
            </a:defPPr>
          </a:lstStyle>
          <a:p>
            <a:pPr algn="l">
              <a:buNone/>
            </a:pPr>
            <a:r>
              <a:rPr lang="en-GB" sz="1200" b="1" i="0" dirty="0">
                <a:solidFill>
                  <a:srgbClr val="087F8C"/>
                </a:solidFill>
              </a:rPr>
              <a:t>  Sunday 17:00 — THE QUESTION WE ASKED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7BF8CE-80E4-49F5-B20B-609E10BC0E27}"/>
              </a:ext>
            </a:extLst>
          </p:cNvPr>
          <p:cNvSpPr>
            <a:spLocks noGrp="1"/>
          </p:cNvSpPr>
          <p:nvPr/>
        </p:nvSpPr>
        <p:spPr>
          <a:xfrm>
            <a:off x="6629400" y="2788920"/>
            <a:ext cx="4937760" cy="16154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182536"/>
                </a:solidFill>
              </a:defRPr>
            </a:defPPr>
          </a:lstStyle>
          <a:p>
            <a:pPr algn="l">
              <a:buNone/>
            </a:pPr>
            <a:r>
              <a:rPr lang="en-GB" sz="2000" b="0" i="0" dirty="0">
                <a:solidFill>
                  <a:srgbClr val="182536"/>
                </a:solidFill>
              </a:rPr>
              <a:t>Can a ground robot...</a:t>
            </a:r>
            <a:br>
              <a:rPr lang="en-GB" sz="2000" b="0" i="0" dirty="0">
                <a:solidFill>
                  <a:srgbClr val="182536"/>
                </a:solidFill>
              </a:rPr>
            </a:br>
            <a:br>
              <a:rPr lang="en-GB" sz="2000" b="0" i="0" dirty="0">
                <a:solidFill>
                  <a:srgbClr val="182536"/>
                </a:solidFill>
              </a:rPr>
            </a:br>
            <a:r>
              <a:rPr lang="en-GB" sz="2000" b="0" i="0" dirty="0">
                <a:solidFill>
                  <a:srgbClr val="182536"/>
                </a:solidFill>
              </a:rPr>
              <a:t>  SEE the drone from below,</a:t>
            </a:r>
            <a:br>
              <a:rPr lang="en-GB" sz="2000" b="0" i="0" dirty="0">
                <a:solidFill>
                  <a:srgbClr val="182536"/>
                </a:solidFill>
              </a:rPr>
            </a:br>
            <a:r>
              <a:rPr lang="en-GB" sz="2000" b="0" i="0" dirty="0">
                <a:solidFill>
                  <a:srgbClr val="182536"/>
                </a:solidFill>
              </a:rPr>
              <a:t>  PREDICT its landing point in real time,</a:t>
            </a:r>
            <a:br>
              <a:rPr lang="en-GB" sz="2000" b="0" i="0" dirty="0">
                <a:solidFill>
                  <a:srgbClr val="182536"/>
                </a:solidFill>
              </a:rPr>
            </a:br>
            <a:r>
              <a:rPr lang="en-GB" sz="2000" b="0" i="0" dirty="0">
                <a:solidFill>
                  <a:srgbClr val="182536"/>
                </a:solidFill>
              </a:rPr>
              <a:t>  INTERCEPT it before it hits the floor?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C9A643-F03F-420B-B2EA-CC9CB8BC5B0E}"/>
              </a:ext>
            </a:extLst>
          </p:cNvPr>
          <p:cNvSpPr>
            <a:spLocks noGrp="1"/>
          </p:cNvSpPr>
          <p:nvPr/>
        </p:nvSpPr>
        <p:spPr>
          <a:xfrm>
            <a:off x="11430000" y="6492240"/>
            <a:ext cx="64008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r">
              <a:buNone/>
            </a:pPr>
            <a:r>
              <a:rPr lang="en-GB" sz="1000" b="0" i="0" dirty="0">
                <a:solidFill>
                  <a:srgbClr val="526173"/>
                </a:solidFill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02463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661E54-0B1B-4693-8551-77C26EACB7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46EDD-5B94-4C1E-8544-604B12414144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91440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182536"/>
                </a:solidFill>
              </a:defRPr>
            </a:defPPr>
          </a:lstStyle>
          <a:p>
            <a:pPr algn="l">
              <a:buNone/>
            </a:pPr>
            <a:r>
              <a:rPr lang="en-GB" sz="3400" b="1" dirty="0">
                <a:solidFill>
                  <a:srgbClr val="182536"/>
                </a:solidFill>
              </a:rPr>
              <a:t>Approach</a:t>
            </a:r>
            <a:endParaRPr lang="en-GB" sz="3400" b="1" i="0" dirty="0">
              <a:solidFill>
                <a:srgbClr val="E2E8F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E53D22-BD0D-4D6F-8AF6-17AB8966D7F1}"/>
              </a:ext>
            </a:extLst>
          </p:cNvPr>
          <p:cNvSpPr>
            <a:spLocks noGrp="1"/>
          </p:cNvSpPr>
          <p:nvPr/>
        </p:nvSpPr>
        <p:spPr>
          <a:xfrm>
            <a:off x="457200" y="1554480"/>
            <a:ext cx="640080" cy="381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4556AD-650C-4197-8ED6-85003BB41A9C}"/>
              </a:ext>
            </a:extLst>
          </p:cNvPr>
          <p:cNvSpPr>
            <a:spLocks noGrp="1"/>
          </p:cNvSpPr>
          <p:nvPr/>
        </p:nvSpPr>
        <p:spPr>
          <a:xfrm>
            <a:off x="11430000" y="6492240"/>
            <a:ext cx="64008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r">
              <a:buNone/>
            </a:pPr>
            <a:r>
              <a:rPr lang="en-GB" sz="1000" b="0" i="0" dirty="0">
                <a:solidFill>
                  <a:srgbClr val="526173"/>
                </a:solidFill>
              </a:rPr>
              <a:t>3 / 7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F746861-93F3-416D-9E88-910A9AEDB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406025"/>
            <a:ext cx="10125456" cy="536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74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728255-1018-4220-8439-C26D2851F184}"/>
              </a:ext>
            </a:extLst>
          </p:cNvPr>
          <p:cNvSpPr>
            <a:spLocks noGrp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C123A-CA36-4926-9EB0-E0198107173E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182536"/>
                </a:solidFill>
              </a:defRPr>
            </a:defPPr>
          </a:lstStyle>
          <a:p>
            <a:pPr algn="l">
              <a:buNone/>
            </a:pPr>
            <a:r>
              <a:rPr lang="en-GB" sz="3600" b="1" i="0" dirty="0">
                <a:solidFill>
                  <a:srgbClr val="182536"/>
                </a:solidFill>
              </a:rPr>
              <a:t>What runs right now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1B3AA-228D-4503-A370-3FB1308E2C87}"/>
              </a:ext>
            </a:extLst>
          </p:cNvPr>
          <p:cNvSpPr>
            <a:spLocks noGrp="1"/>
          </p:cNvSpPr>
          <p:nvPr/>
        </p:nvSpPr>
        <p:spPr>
          <a:xfrm>
            <a:off x="457200" y="1554480"/>
            <a:ext cx="640080" cy="38100"/>
          </a:xfrm>
          <a:prstGeom prst="rect">
            <a:avLst/>
          </a:prstGeom>
          <a:solidFill>
            <a:srgbClr val="19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694F0B-AFCD-4022-A6A3-A31414432BF5}"/>
              </a:ext>
            </a:extLst>
          </p:cNvPr>
          <p:cNvSpPr>
            <a:spLocks noGrp="1"/>
          </p:cNvSpPr>
          <p:nvPr/>
        </p:nvSpPr>
        <p:spPr>
          <a:xfrm>
            <a:off x="2573079" y="1554480"/>
            <a:ext cx="3474720" cy="1463040"/>
          </a:xfrm>
          <a:prstGeom prst="rect">
            <a:avLst/>
          </a:prstGeom>
          <a:solidFill>
            <a:srgbClr val="F7F9FB"/>
          </a:solidFill>
          <a:ln w="7620">
            <a:solidFill>
              <a:srgbClr val="DCE3E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BE1B2-9329-47CB-9CED-D19D3CED422C}"/>
              </a:ext>
            </a:extLst>
          </p:cNvPr>
          <p:cNvSpPr>
            <a:spLocks noGrp="1"/>
          </p:cNvSpPr>
          <p:nvPr/>
        </p:nvSpPr>
        <p:spPr>
          <a:xfrm>
            <a:off x="2664519" y="1737360"/>
            <a:ext cx="3291840" cy="701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>
                <a:solidFill>
                  <a:srgbClr val="197A48"/>
                </a:solidFill>
              </a:defRPr>
            </a:defPPr>
          </a:lstStyle>
          <a:p>
            <a:pPr algn="ctr">
              <a:buNone/>
            </a:pPr>
            <a:r>
              <a:rPr lang="en-GB" sz="4000" b="1" i="0" dirty="0">
                <a:solidFill>
                  <a:srgbClr val="197A48"/>
                </a:solidFill>
              </a:rPr>
              <a:t>8 /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E2E95-A354-4F43-85D0-7F606128AC9E}"/>
              </a:ext>
            </a:extLst>
          </p:cNvPr>
          <p:cNvSpPr>
            <a:spLocks noGrp="1"/>
          </p:cNvSpPr>
          <p:nvPr/>
        </p:nvSpPr>
        <p:spPr>
          <a:xfrm>
            <a:off x="2664519" y="2560320"/>
            <a:ext cx="3291840" cy="259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ctr">
              <a:buNone/>
            </a:pPr>
            <a:r>
              <a:rPr lang="en-GB" sz="1100" b="0" i="0" dirty="0">
                <a:solidFill>
                  <a:srgbClr val="526173"/>
                </a:solidFill>
              </a:rPr>
              <a:t>interception success — 5 sim scenarios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F6EDCC-EE1C-4C87-9203-9A11FC223EDD}"/>
              </a:ext>
            </a:extLst>
          </p:cNvPr>
          <p:cNvSpPr>
            <a:spLocks noGrp="1"/>
          </p:cNvSpPr>
          <p:nvPr/>
        </p:nvSpPr>
        <p:spPr>
          <a:xfrm>
            <a:off x="6230679" y="1554480"/>
            <a:ext cx="1691640" cy="1463040"/>
          </a:xfrm>
          <a:prstGeom prst="rect">
            <a:avLst/>
          </a:prstGeom>
          <a:solidFill>
            <a:srgbClr val="F7F9FB"/>
          </a:solidFill>
          <a:ln w="7620">
            <a:solidFill>
              <a:srgbClr val="DCE3E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64DC06-F1B0-4B9A-8B2D-C92A0307BC18}"/>
              </a:ext>
            </a:extLst>
          </p:cNvPr>
          <p:cNvSpPr>
            <a:spLocks noGrp="1"/>
          </p:cNvSpPr>
          <p:nvPr/>
        </p:nvSpPr>
        <p:spPr>
          <a:xfrm>
            <a:off x="6322119" y="1737360"/>
            <a:ext cx="1508760" cy="4267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>
                <a:solidFill>
                  <a:srgbClr val="087F8C"/>
                </a:solidFill>
              </a:defRPr>
            </a:defPPr>
          </a:lstStyle>
          <a:p>
            <a:pPr algn="ctr">
              <a:buNone/>
            </a:pPr>
            <a:r>
              <a:rPr lang="en-GB" sz="2200" b="1" i="0" dirty="0">
                <a:solidFill>
                  <a:srgbClr val="087F8C"/>
                </a:solidFill>
              </a:rPr>
              <a:t>&lt;300ms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04F20E-4DAF-4C7F-99FE-FF2ED132A0AF}"/>
              </a:ext>
            </a:extLst>
          </p:cNvPr>
          <p:cNvSpPr>
            <a:spLocks noGrp="1"/>
          </p:cNvSpPr>
          <p:nvPr/>
        </p:nvSpPr>
        <p:spPr>
          <a:xfrm>
            <a:off x="6322119" y="2423160"/>
            <a:ext cx="1508760" cy="3962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ctr">
              <a:buNone/>
            </a:pPr>
            <a:r>
              <a:rPr lang="en-GB" sz="1000" b="0" i="0" dirty="0">
                <a:solidFill>
                  <a:srgbClr val="526173"/>
                </a:solidFill>
              </a:rPr>
              <a:t>detect-to-predict</a:t>
            </a:r>
            <a:br>
              <a:rPr lang="en-GB" sz="1000" b="0" i="0" dirty="0">
                <a:solidFill>
                  <a:srgbClr val="526173"/>
                </a:solidFill>
              </a:rPr>
            </a:br>
            <a:r>
              <a:rPr lang="en-GB" sz="1000" b="0" i="0" dirty="0">
                <a:solidFill>
                  <a:srgbClr val="526173"/>
                </a:solidFill>
              </a:rPr>
              <a:t>latency per frame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054846-858A-454B-891A-F097D48261ED}"/>
              </a:ext>
            </a:extLst>
          </p:cNvPr>
          <p:cNvSpPr>
            <a:spLocks noGrp="1"/>
          </p:cNvSpPr>
          <p:nvPr/>
        </p:nvSpPr>
        <p:spPr>
          <a:xfrm>
            <a:off x="11430000" y="6492240"/>
            <a:ext cx="64008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r">
              <a:buNone/>
            </a:pPr>
            <a:r>
              <a:rPr lang="en-GB" sz="1000" b="0" i="0" dirty="0">
                <a:solidFill>
                  <a:srgbClr val="526173"/>
                </a:solidFill>
              </a:rPr>
              <a:t>5 / 7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946E5E1-1960-4C31-86CD-BF5A125B61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1" t="3755" r="3329" b="41600"/>
          <a:stretch>
            <a:fillRect/>
          </a:stretch>
        </p:blipFill>
        <p:spPr>
          <a:xfrm>
            <a:off x="126122" y="3429000"/>
            <a:ext cx="6036410" cy="21725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FC19AE-4F21-3603-9168-9D22EB398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309" y="3276600"/>
            <a:ext cx="5684569" cy="297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8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F950197-BFEF-4F62-AAAF-3C78CEEE84DF}"/>
              </a:ext>
            </a:extLst>
          </p:cNvPr>
          <p:cNvSpPr>
            <a:spLocks noGrp="1"/>
          </p:cNvSpPr>
          <p:nvPr/>
        </p:nvSpPr>
        <p:spPr>
          <a:xfrm>
            <a:off x="495300" y="523875"/>
            <a:ext cx="11201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3300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3300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Our biggest challenge and next step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54BBAC-4921-42C0-B224-ED9093E33697}"/>
              </a:ext>
            </a:extLst>
          </p:cNvPr>
          <p:cNvSpPr>
            <a:spLocks noGrp="1"/>
          </p:cNvSpPr>
          <p:nvPr/>
        </p:nvSpPr>
        <p:spPr>
          <a:xfrm>
            <a:off x="495300" y="1495425"/>
            <a:ext cx="6477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250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pPr>
            <a:r>
              <a:rPr lang="en-GB" sz="2250" b="1" dirty="0">
                <a:solidFill>
                  <a:srgbClr val="087F8C"/>
                </a:solidFill>
                <a:latin typeface="Calibri"/>
                <a:ea typeface="Calibri"/>
                <a:cs typeface="Calibri"/>
              </a:rPr>
              <a:t>The hard part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688E03-6658-48A6-B066-283B206DBE38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28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025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pPr>
            <a:r>
              <a:rPr lang="en-GB" sz="2025" b="1" dirty="0">
                <a:solidFill>
                  <a:srgbClr val="087F8C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777F8D-C211-44FA-92EF-612F57EBD501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5953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025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2025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The challenge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A5BFFB-6ECD-42A0-A663-9CED5CE12240}"/>
              </a:ext>
            </a:extLst>
          </p:cNvPr>
          <p:cNvSpPr>
            <a:spLocks noGrp="1"/>
          </p:cNvSpPr>
          <p:nvPr/>
        </p:nvSpPr>
        <p:spPr>
          <a:xfrm>
            <a:off x="933450" y="2447925"/>
            <a:ext cx="614362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8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Varying drone </a:t>
            </a:r>
            <a:r>
              <a:rPr lang="en-GB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positions</a:t>
            </a:r>
            <a:r>
              <a:rPr lang="en-GB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.</a:t>
            </a:r>
            <a:endParaRPr lang="en-GB" sz="1800" b="0" dirty="0">
              <a:solidFill>
                <a:srgbClr val="18253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6C44B4-576D-449D-9161-A3E0E31061BD}"/>
              </a:ext>
            </a:extLst>
          </p:cNvPr>
          <p:cNvSpPr>
            <a:spLocks noGrp="1"/>
          </p:cNvSpPr>
          <p:nvPr/>
        </p:nvSpPr>
        <p:spPr>
          <a:xfrm>
            <a:off x="495300" y="3124200"/>
            <a:ext cx="28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025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pPr>
            <a:r>
              <a:rPr lang="en-GB" sz="2025" b="1" dirty="0">
                <a:solidFill>
                  <a:srgbClr val="087F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CDBB6-3FD8-427B-846B-3D9A6D6150FB}"/>
              </a:ext>
            </a:extLst>
          </p:cNvPr>
          <p:cNvSpPr>
            <a:spLocks noGrp="1"/>
          </p:cNvSpPr>
          <p:nvPr/>
        </p:nvSpPr>
        <p:spPr>
          <a:xfrm>
            <a:off x="933450" y="3124200"/>
            <a:ext cx="5953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025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2025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First attempt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A7918F-4CB0-422F-852F-7E6802E92C21}"/>
              </a:ext>
            </a:extLst>
          </p:cNvPr>
          <p:cNvSpPr>
            <a:spLocks noGrp="1"/>
          </p:cNvSpPr>
          <p:nvPr/>
        </p:nvSpPr>
        <p:spPr>
          <a:xfrm>
            <a:off x="933450" y="3476625"/>
            <a:ext cx="614362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8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1800" b="0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We removed </a:t>
            </a:r>
            <a:r>
              <a:rPr lang="en-GB" sz="1800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unreliable detections</a:t>
            </a:r>
            <a:r>
              <a:rPr lang="en-GB" sz="1800" b="0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, but the estimated position still jumped.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88D8E5-7460-408E-8DB5-BC2829C0E20D}"/>
              </a:ext>
            </a:extLst>
          </p:cNvPr>
          <p:cNvSpPr>
            <a:spLocks noGrp="1"/>
          </p:cNvSpPr>
          <p:nvPr/>
        </p:nvSpPr>
        <p:spPr>
          <a:xfrm>
            <a:off x="495300" y="4152900"/>
            <a:ext cx="28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025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pPr>
            <a:r>
              <a:rPr lang="en-GB" sz="2025" b="1" dirty="0">
                <a:solidFill>
                  <a:srgbClr val="087F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A9DC63-AEFF-43FD-BB9D-BE3B8F45356D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5953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025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2025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What improved 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CC8199-6866-4E6B-A617-8552AA9B3697}"/>
              </a:ext>
            </a:extLst>
          </p:cNvPr>
          <p:cNvSpPr>
            <a:spLocks noGrp="1"/>
          </p:cNvSpPr>
          <p:nvPr/>
        </p:nvSpPr>
        <p:spPr>
          <a:xfrm>
            <a:off x="933450" y="4505325"/>
            <a:ext cx="614362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8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1800" b="0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A Kalman filter smoothed the motion estimate, making the predicted landing point more stable.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58AA8D-F720-4AD2-A663-948E977BB770}"/>
              </a:ext>
            </a:extLst>
          </p:cNvPr>
          <p:cNvSpPr>
            <a:spLocks noGrp="1"/>
          </p:cNvSpPr>
          <p:nvPr/>
        </p:nvSpPr>
        <p:spPr>
          <a:xfrm>
            <a:off x="495300" y="5181600"/>
            <a:ext cx="28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025" b="1">
                <a:solidFill>
                  <a:srgbClr val="087F8C"/>
                </a:solidFill>
                <a:latin typeface="Calibri"/>
                <a:ea typeface="Calibri"/>
                <a:cs typeface="Calibri"/>
              </a:defRPr>
            </a:pPr>
            <a:r>
              <a:rPr lang="en-GB" sz="2025" b="1" dirty="0">
                <a:solidFill>
                  <a:srgbClr val="087F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EE3F2E-BAD7-4B40-AD63-29AC57E60452}"/>
              </a:ext>
            </a:extLst>
          </p:cNvPr>
          <p:cNvSpPr>
            <a:spLocks noGrp="1"/>
          </p:cNvSpPr>
          <p:nvPr/>
        </p:nvSpPr>
        <p:spPr>
          <a:xfrm>
            <a:off x="933450" y="5181600"/>
            <a:ext cx="5953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025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2025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What we learned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34BE4-3DCD-4808-A3DD-96B90AADE235}"/>
              </a:ext>
            </a:extLst>
          </p:cNvPr>
          <p:cNvSpPr>
            <a:spLocks noGrp="1"/>
          </p:cNvSpPr>
          <p:nvPr/>
        </p:nvSpPr>
        <p:spPr>
          <a:xfrm>
            <a:off x="933450" y="5534025"/>
            <a:ext cx="614362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8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1800" b="0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Reliable landing predictions </a:t>
            </a:r>
            <a:r>
              <a:rPr lang="en-GB" sz="1800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need stable tracking first</a:t>
            </a:r>
            <a:r>
              <a:rPr lang="en-GB" sz="1800" b="0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5D0857-2419-4C2E-8DAC-2105C14ACA3B}"/>
              </a:ext>
            </a:extLst>
          </p:cNvPr>
          <p:cNvSpPr>
            <a:spLocks noGrp="1"/>
          </p:cNvSpPr>
          <p:nvPr/>
        </p:nvSpPr>
        <p:spPr>
          <a:xfrm>
            <a:off x="7858125" y="1495425"/>
            <a:ext cx="3667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551A5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250" b="1">
                <a:solidFill>
                  <a:srgbClr val="6551A5"/>
                </a:solidFill>
                <a:latin typeface="Calibri"/>
                <a:ea typeface="Calibri"/>
                <a:cs typeface="Calibri"/>
              </a:defRPr>
            </a:pPr>
            <a:r>
              <a:rPr lang="en-GB" sz="2250" b="1" dirty="0">
                <a:solidFill>
                  <a:srgbClr val="6551A5"/>
                </a:solidFill>
                <a:latin typeface="Calibri"/>
                <a:ea typeface="Calibri"/>
                <a:cs typeface="Calibri"/>
              </a:rPr>
              <a:t>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503E4-7432-40F6-A87E-67D0A64369DD}"/>
              </a:ext>
            </a:extLst>
          </p:cNvPr>
          <p:cNvSpPr>
            <a:spLocks noGrp="1"/>
          </p:cNvSpPr>
          <p:nvPr/>
        </p:nvSpPr>
        <p:spPr>
          <a:xfrm>
            <a:off x="7858125" y="2143125"/>
            <a:ext cx="3600450" cy="3143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2400" b="0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2400" noProof="0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Scaling</a:t>
            </a:r>
            <a:r>
              <a:rPr lang="en-GB" sz="2400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 to handle multiple drones and coordination between multiple ground robots.</a:t>
            </a:r>
            <a:endParaRPr lang="en-GB" sz="2400" b="0" dirty="0">
              <a:solidFill>
                <a:srgbClr val="18253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EF0A5-DF4A-4E2A-99C4-E298AA1FDE18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000" b="0">
                <a:solidFill>
                  <a:srgbClr val="526173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000" b="0">
                <a:solidFill>
                  <a:srgbClr val="526173"/>
                </a:solidFill>
                <a:latin typeface="Calibri"/>
                <a:ea typeface="Calibri"/>
                <a:cs typeface="Calibri"/>
              </a:defRPr>
            </a:pPr>
            <a:r>
              <a:rPr lang="en-GB" sz="1000" b="0" dirty="0">
                <a:solidFill>
                  <a:srgbClr val="526173"/>
                </a:solidFill>
                <a:latin typeface="Calibri"/>
                <a:ea typeface="Calibri"/>
                <a:cs typeface="Calibri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46571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F95020-45E0-4B3A-FC8D-7EA9F22171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809DD-3E95-751C-AE49-D32C8239FE43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095375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sz="3300">
                <a:solidFill>
                  <a:srgbClr val="182536"/>
                </a:solidFill>
              </a:defRPr>
            </a:defPPr>
          </a:lstStyle>
          <a:p>
            <a:pPr algn="l">
              <a:buNone/>
            </a:pPr>
            <a:r>
              <a:rPr lang="en-GB" sz="3300" b="1" i="0" dirty="0">
                <a:solidFill>
                  <a:srgbClr val="182536"/>
                </a:solidFill>
              </a:rPr>
              <a:t>Thanks, from </a:t>
            </a:r>
            <a:r>
              <a:rPr lang="en-GB" sz="3300" b="1" i="0" dirty="0" err="1">
                <a:solidFill>
                  <a:srgbClr val="182536"/>
                </a:solidFill>
              </a:rPr>
              <a:t>ClutchRobotics</a:t>
            </a:r>
            <a:r>
              <a:rPr lang="en-GB" sz="3300" b="1" i="0" dirty="0">
                <a:solidFill>
                  <a:srgbClr val="182536"/>
                </a:solidFill>
              </a:rPr>
              <a:t>!!!</a:t>
            </a:r>
            <a:endParaRPr lang="en-GB" sz="3800" b="1" i="0" dirty="0">
              <a:solidFill>
                <a:srgbClr val="E2E8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3CE0A7-8BF7-25DE-6060-DD2585DBC181}"/>
              </a:ext>
            </a:extLst>
          </p:cNvPr>
          <p:cNvSpPr>
            <a:spLocks noGrp="1"/>
          </p:cNvSpPr>
          <p:nvPr/>
        </p:nvSpPr>
        <p:spPr>
          <a:xfrm>
            <a:off x="11430000" y="6492240"/>
            <a:ext cx="64008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r">
              <a:buNone/>
            </a:pPr>
            <a:r>
              <a:rPr lang="en-GB" sz="1000" b="0" i="0" dirty="0">
                <a:solidFill>
                  <a:srgbClr val="526173"/>
                </a:solidFill>
              </a:rPr>
              <a:t>7 / 7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ED7F5B-7EF7-40D9-AE33-DCDCD81FF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5" y="125730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9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E073DC-F263-96F1-1D1E-D09798884F0E}"/>
              </a:ext>
            </a:extLst>
          </p:cNvPr>
          <p:cNvSpPr>
            <a:spLocks noGrp="1"/>
          </p:cNvSpPr>
          <p:nvPr/>
        </p:nvSpPr>
        <p:spPr>
          <a:xfrm>
            <a:off x="495300" y="523875"/>
            <a:ext cx="11201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3300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3300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Appendix: Video Demo</a:t>
            </a:r>
          </a:p>
        </p:txBody>
      </p:sp>
      <p:pic>
        <p:nvPicPr>
          <p:cNvPr id="3" name="WhatsApp Video 2026-10-11 at 16.44.38.mp4">
            <a:hlinkClick r:id="" action="ppaction://media"/>
            <a:extLst>
              <a:ext uri="{FF2B5EF4-FFF2-40B4-BE49-F238E27FC236}">
                <a16:creationId xmlns:a16="http://schemas.microsoft.com/office/drawing/2014/main" id="{D0FD9685-CC0C-7D8D-8261-A9719E0B24DE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6851.2814" end="2946.5801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6480" y="1177290"/>
            <a:ext cx="10099040" cy="568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8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3294F3-0BDB-4AC5-4E80-B5AED1C08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68" y="1681843"/>
            <a:ext cx="11080664" cy="27160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D3A76D-4196-26F9-3D73-1E0DDA65E092}"/>
              </a:ext>
            </a:extLst>
          </p:cNvPr>
          <p:cNvSpPr>
            <a:spLocks noGrp="1"/>
          </p:cNvSpPr>
          <p:nvPr/>
        </p:nvSpPr>
        <p:spPr>
          <a:xfrm>
            <a:off x="495300" y="523875"/>
            <a:ext cx="11201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3300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3300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Appendix: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6996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B1E8C-E6F8-F23D-3778-3CC238649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90" y="1954012"/>
            <a:ext cx="10589281" cy="18911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4BC8B9-7D2D-6F5E-B558-CDACD1E90CC2}"/>
              </a:ext>
            </a:extLst>
          </p:cNvPr>
          <p:cNvSpPr>
            <a:spLocks noGrp="1"/>
          </p:cNvSpPr>
          <p:nvPr/>
        </p:nvSpPr>
        <p:spPr>
          <a:xfrm>
            <a:off x="495300" y="523875"/>
            <a:ext cx="11201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3300" b="1">
                <a:solidFill>
                  <a:srgbClr val="182536"/>
                </a:solidFill>
                <a:latin typeface="Calibri"/>
                <a:ea typeface="Calibri"/>
                <a:cs typeface="Calibri"/>
              </a:defRPr>
            </a:pPr>
            <a:r>
              <a:rPr lang="en-GB" sz="3300" b="1" dirty="0">
                <a:solidFill>
                  <a:srgbClr val="182536"/>
                </a:solidFill>
                <a:latin typeface="Calibri"/>
                <a:ea typeface="Calibri"/>
                <a:cs typeface="Calibri"/>
              </a:rPr>
              <a:t>Appendix: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2741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661E54-0B1B-4693-8551-77C26EACB7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46EDD-5B94-4C1E-8544-604B12414144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91440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182536"/>
                </a:solidFill>
              </a:defRPr>
            </a:defPPr>
          </a:lstStyle>
          <a:p>
            <a:pPr algn="l">
              <a:buNone/>
            </a:pPr>
            <a:r>
              <a:rPr lang="en-GB" sz="3400" b="1" dirty="0">
                <a:solidFill>
                  <a:srgbClr val="182536"/>
                </a:solidFill>
              </a:rPr>
              <a:t>How LandMate catches a drone</a:t>
            </a:r>
            <a:endParaRPr lang="en-GB" sz="3400" b="1" i="0" dirty="0">
              <a:solidFill>
                <a:srgbClr val="E2E8F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E53D22-BD0D-4D6F-8AF6-17AB8966D7F1}"/>
              </a:ext>
            </a:extLst>
          </p:cNvPr>
          <p:cNvSpPr>
            <a:spLocks noGrp="1"/>
          </p:cNvSpPr>
          <p:nvPr/>
        </p:nvSpPr>
        <p:spPr>
          <a:xfrm>
            <a:off x="457200" y="1554480"/>
            <a:ext cx="640080" cy="381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4556AD-650C-4197-8ED6-85003BB41A9C}"/>
              </a:ext>
            </a:extLst>
          </p:cNvPr>
          <p:cNvSpPr>
            <a:spLocks noGrp="1"/>
          </p:cNvSpPr>
          <p:nvPr/>
        </p:nvSpPr>
        <p:spPr>
          <a:xfrm>
            <a:off x="11430000" y="6492240"/>
            <a:ext cx="64008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solidFill>
                  <a:srgbClr val="526173"/>
                </a:solidFill>
              </a:defRPr>
            </a:defPPr>
          </a:lstStyle>
          <a:p>
            <a:pPr algn="r">
              <a:buNone/>
            </a:pPr>
            <a:r>
              <a:rPr lang="en-GB" sz="1000" b="0" i="0" dirty="0">
                <a:solidFill>
                  <a:srgbClr val="526173"/>
                </a:solidFill>
              </a:rPr>
              <a:t>4 / 7</a:t>
            </a:r>
          </a:p>
        </p:txBody>
      </p:sp>
      <p:pic>
        <p:nvPicPr>
          <p:cNvPr id="60" name="LandMate catch simulation" descr="Simulated 3D animation: the RealSense D555 on ANT1 tracks the falling drone, predicts its landing point and the robot drives underneath to catch it.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006000" y="1760000"/>
            <a:ext cx="8180000" cy="4601250"/>
          </a:xfrm>
          <a:prstGeom prst="rect">
            <a:avLst/>
          </a:prstGeom>
          <a:ln w="12700">
            <a:solidFill>
              <a:srgbClr val="B5D4F4"/>
            </a:solidFill>
          </a:ln>
        </p:spPr>
      </p:pic>
    </p:spTree>
    <p:extLst>
      <p:ext uri="{BB962C8B-B14F-4D97-AF65-F5344CB8AC3E}">
        <p14:creationId xmlns:p14="http://schemas.microsoft.com/office/powerpoint/2010/main" val="45287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336</Words>
  <Application>Microsoft Macintosh PowerPoint</Application>
  <DocSecurity>0</DocSecurity>
  <PresentationFormat>Widescreen</PresentationFormat>
  <Paragraphs>50</Paragraphs>
  <Slides>9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John Terence Manful</cp:lastModifiedBy>
  <cp:revision>7</cp:revision>
  <dcterms:created xsi:type="dcterms:W3CDTF">2026-10-11T14:07:19Z</dcterms:created>
  <dcterms:modified xsi:type="dcterms:W3CDTF">2026-10-11T15:12:08Z</dcterms:modified>
</cp:coreProperties>
</file>